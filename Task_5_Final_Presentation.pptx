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5 — Final Report, Automation &amp;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Sales Performance Analysis | ApexPlanet Software Pvt.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Dataset: Sample Superstore (8,827 cleaned records)</a:t>
            </a:r>
          </a:p>
          <a:p>
            <a:pPr>
              <a:spcAft>
                <a:spcPts val="1000"/>
              </a:spcAft>
              <a:defRPr sz="2200"/>
            </a:pPr>
            <a:r>
              <a:t>Tools: Python, Pandas, Excel, Power BI, GitHub Actions</a:t>
            </a:r>
          </a:p>
          <a:p>
            <a:pPr>
              <a:spcAft>
                <a:spcPts val="1000"/>
              </a:spcAft>
              <a:defRPr sz="2200"/>
            </a:pPr>
            <a:r>
              <a:t>Deliverables: Report + Automation + Presentation +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Total Sales: $819,718.06</a:t>
            </a:r>
          </a:p>
          <a:p>
            <a:pPr>
              <a:spcAft>
                <a:spcPts val="1000"/>
              </a:spcAft>
              <a:defRPr sz="2200"/>
            </a:pPr>
            <a:r>
              <a:t>Total Profit: $98,850.43</a:t>
            </a:r>
          </a:p>
          <a:p>
            <a:pPr>
              <a:spcAft>
                <a:spcPts val="1000"/>
              </a:spcAft>
              <a:defRPr sz="2200"/>
            </a:pPr>
            <a:r>
              <a:t>Total Orders: 4,725</a:t>
            </a:r>
          </a:p>
          <a:p>
            <a:pPr>
              <a:spcAft>
                <a:spcPts val="1000"/>
              </a:spcAft>
              <a:defRPr sz="2200"/>
            </a:pPr>
            <a:r>
              <a:t>Total Customers: 790</a:t>
            </a:r>
          </a:p>
          <a:p>
            <a:pPr>
              <a:spcAft>
                <a:spcPts val="1000"/>
              </a:spcAft>
              <a:defRPr sz="2200"/>
            </a:pPr>
            <a:r>
              <a:t>Profit Margin: 12.06%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Trend</a:t>
            </a:r>
          </a:p>
        </p:txBody>
      </p:sp>
      <p:pic>
        <p:nvPicPr>
          <p:cNvPr id="3" name="Picture 2" descr="annu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034393"/>
          </a:xfrm>
          <a:prstGeom prst="rect">
            <a:avLst/>
          </a:prstGeom>
        </p:spPr>
      </p:pic>
      <p:pic>
        <p:nvPicPr>
          <p:cNvPr id="4" name="Picture 3" descr="monthl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03520" cy="2605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&amp; Segment Performance</a:t>
            </a:r>
          </a:p>
        </p:txBody>
      </p:sp>
      <p:pic>
        <p:nvPicPr>
          <p:cNvPr id="3" name="Picture 2" descr="sales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034393"/>
          </a:xfrm>
          <a:prstGeom prst="rect">
            <a:avLst/>
          </a:prstGeom>
        </p:spPr>
      </p:pic>
      <p:pic>
        <p:nvPicPr>
          <p:cNvPr id="4" name="Picture 3" descr="sales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03520" cy="2976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Products &amp; Profitability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94960" cy="3030046"/>
          </a:xfrm>
          <a:prstGeom prst="rect">
            <a:avLst/>
          </a:prstGeom>
        </p:spPr>
      </p:pic>
      <p:pic>
        <p:nvPicPr>
          <p:cNvPr id="4" name="Picture 3" descr="loss_sub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03520" cy="2976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West leads regional sales: $275,810</a:t>
            </a:r>
          </a:p>
          <a:p>
            <a:pPr>
              <a:spcAft>
                <a:spcPts val="1000"/>
              </a:spcAft>
              <a:defRPr sz="2000"/>
            </a:pPr>
            <a:r>
              <a:t>Consumer leads segment sales: $437,711</a:t>
            </a:r>
          </a:p>
          <a:p>
            <a:pPr>
              <a:spcAft>
                <a:spcPts val="1000"/>
              </a:spcAft>
              <a:defRPr sz="2000"/>
            </a:pPr>
            <a:r>
              <a:t>Office Supplies leads category sales: $343,425</a:t>
            </a:r>
          </a:p>
          <a:p>
            <a:pPr>
              <a:spcAft>
                <a:spcPts val="1000"/>
              </a:spcAft>
              <a:defRPr sz="2000"/>
            </a:pPr>
            <a:r>
              <a:t>Tables has the lowest sub-category profit: $-8,636</a:t>
            </a:r>
          </a:p>
          <a:p>
            <a:pPr>
              <a:spcAft>
                <a:spcPts val="1000"/>
              </a:spcAft>
              <a:defRPr sz="2000"/>
            </a:pPr>
            <a:r>
              <a:t>Annual sales rose to $272,538 in 2017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Automation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Load raw CSV</a:t>
            </a:r>
          </a:p>
          <a:p>
            <a:pPr>
              <a:spcAft>
                <a:spcPts val="1000"/>
              </a:spcAft>
              <a:defRPr sz="2000"/>
            </a:pPr>
            <a:r>
              <a:t>2. Clean and validate data</a:t>
            </a:r>
          </a:p>
          <a:p>
            <a:pPr>
              <a:spcAft>
                <a:spcPts val="1000"/>
              </a:spcAft>
              <a:defRPr sz="2000"/>
            </a:pPr>
            <a:r>
              <a:t>3. Calculate KPIs</a:t>
            </a:r>
          </a:p>
          <a:p>
            <a:pPr>
              <a:spcAft>
                <a:spcPts val="1000"/>
              </a:spcAft>
              <a:defRPr sz="2000"/>
            </a:pPr>
            <a:r>
              <a:t>4. Export Excel analysis</a:t>
            </a:r>
          </a:p>
          <a:p>
            <a:pPr>
              <a:spcAft>
                <a:spcPts val="1000"/>
              </a:spcAft>
              <a:defRPr sz="2000"/>
            </a:pPr>
            <a:r>
              <a:t>5. Generate charts and KPI summary</a:t>
            </a:r>
          </a:p>
          <a:p>
            <a:pPr>
              <a:spcAft>
                <a:spcPts val="1000"/>
              </a:spcAft>
              <a:defRPr sz="2000"/>
            </a:pPr>
            <a:r>
              <a:t>6. Schedule with GitHub Actions</a:t>
            </a:r>
          </a:p>
          <a:p>
            <a:pPr>
              <a:spcAft>
                <a:spcPts val="1000"/>
              </a:spcAft>
              <a:defRPr sz="2000"/>
            </a:pPr>
            <a:r>
              <a:t>7. Upload outputs as workflow artifacts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Review pricing and discount strategy for low-profit sub-categories.</a:t>
            </a:r>
          </a:p>
          <a:p>
            <a:pPr>
              <a:spcAft>
                <a:spcPts val="1000"/>
              </a:spcAft>
              <a:defRPr sz="2000"/>
            </a:pPr>
            <a:r>
              <a:t>Scale successful practices from the West region and Consumer segment.</a:t>
            </a:r>
          </a:p>
          <a:p>
            <a:pPr>
              <a:spcAft>
                <a:spcPts val="1000"/>
              </a:spcAft>
              <a:defRPr sz="2000"/>
            </a:pPr>
            <a:r>
              <a:t>Use scheduled automation for regular KPI monitoring and faster decisions.</a:t>
            </a:r>
          </a:p>
          <a:p>
            <a:pPr>
              <a:spcAft>
                <a:spcPts val="1000"/>
              </a:spcAft>
              <a:defRPr sz="2000"/>
            </a:pPr>
            <a:r>
              <a:t>Keep the Power BI dashboard as the executive-facing visualization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✓ Final Report PDF</a:t>
            </a:r>
          </a:p>
          <a:p>
            <a:pPr>
              <a:spcAft>
                <a:spcPts val="1000"/>
              </a:spcAft>
              <a:defRPr sz="2100"/>
            </a:pPr>
            <a:r>
              <a:t>✓ Automation Script</a:t>
            </a:r>
          </a:p>
          <a:p>
            <a:pPr>
              <a:spcAft>
                <a:spcPts val="1000"/>
              </a:spcAft>
              <a:defRPr sz="2100"/>
            </a:pPr>
            <a:r>
              <a:t>✓ requirements.txt + README</a:t>
            </a:r>
          </a:p>
          <a:p>
            <a:pPr>
              <a:spcAft>
                <a:spcPts val="1000"/>
              </a:spcAft>
              <a:defRPr sz="2100"/>
            </a:pPr>
            <a:r>
              <a:t>✓ Processed Excel Workbook</a:t>
            </a:r>
          </a:p>
          <a:p>
            <a:pPr>
              <a:spcAft>
                <a:spcPts val="1000"/>
              </a:spcAft>
              <a:defRPr sz="2100"/>
            </a:pPr>
            <a:r>
              <a:t>✓ GitHub Actions Workflow</a:t>
            </a:r>
          </a:p>
          <a:p>
            <a:pPr>
              <a:spcAft>
                <a:spcPts val="1000"/>
              </a:spcAft>
              <a:defRPr sz="2100"/>
            </a:pPr>
            <a:r>
              <a:t>✓ LinkedIn Post Content</a:t>
            </a:r>
          </a:p>
          <a:p>
            <a:pPr>
              <a:spcAft>
                <a:spcPts val="1000"/>
              </a:spcAft>
              <a:defRPr sz="2100"/>
            </a:pPr>
            <a:r>
              <a:t>✓ 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